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76" r:id="rId4"/>
    <p:sldId id="277" r:id="rId5"/>
    <p:sldId id="27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ro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350" y="-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9406B-7284-4C11-B986-DBAABFEC209D}" type="datetimeFigureOut">
              <a:rPr lang="en-US" smtClean="0"/>
              <a:pPr/>
              <a:t>8/5/2010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FDC03-709B-457B-B8C1-1D197F952C9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FDC03-709B-457B-B8C1-1D197F952C9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FDC03-709B-457B-B8C1-1D197F952C9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FA634-C3F7-4B46-BE2B-04EED62BA130}" type="slidenum">
              <a:rPr lang="he-IL" smtClean="0"/>
              <a:pPr/>
              <a:t>3</a:t>
            </a:fld>
            <a:endParaRPr lang="he-I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FA634-C3F7-4B46-BE2B-04EED62BA130}" type="slidenum">
              <a:rPr lang="he-IL" smtClean="0"/>
              <a:pPr/>
              <a:t>4</a:t>
            </a:fld>
            <a:endParaRPr lang="he-I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FA634-C3F7-4B46-BE2B-04EED62BA130}" type="slidenum">
              <a:rPr lang="he-IL" smtClean="0"/>
              <a:pPr/>
              <a:t>5</a:t>
            </a:fld>
            <a:endParaRPr lang="he-I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hyperlink" Target="http://images.google.co.il/imgres?imgurl=http://flora.nhm-wien.ac.at/Bilder-P-Z/Phelipanche-ramosa-1.jpg&amp;imgrefurl=http://www.uniprot.org/taxonomy/46066&amp;usg=__N2Rb_tsd4zzOpUmb8wagHohh1lc=&amp;h=781&amp;w=800&amp;sz=80&amp;hl=en&amp;start=7&amp;um=1&amp;itbs=1&amp;tbnid=Sj97_8Yq0qgkQM:&amp;tbnh=140&amp;tbnw=143&amp;prev=/images?q=Orobanche+and+Phelipanche&amp;hl=en&amp;rlz=1T4GGLL_en___IL342&amp;sa=N&amp;um=1" TargetMode="External"/><Relationship Id="rId13" Type="http://schemas.openxmlformats.org/officeDocument/2006/relationships/image" Target="../media/image6.jpeg"/><Relationship Id="rId18" Type="http://schemas.openxmlformats.org/officeDocument/2006/relationships/hyperlink" Target="http://www.google.com/imgres?imgurl=http://upload.wikimedia.org/wikipedia/he/thumb/d/d2/%D7%9E%D7%97%D7%96%D7%95%D7%A8_%D7%97%D7%99%D7%99%D7%9D_%D7%A9%D7%9C_%D7%91%D7%99%D7%9C%D7%94%D7%A8%D7%A6%D7%99%D7%94.jpg/370px-%D7%9E%D7%97%D7%96%D7%95%D7%A8_%D7%97%D7%99%D7%99%D7%9D_%D7%A9%D7%9C_%D7%91%D7%99%D7%9C%D7%94%D7%A8%D7%A6%D7%99%D7%94.jpg&amp;imgrefurl=http://he.wikipedia.org/wiki/%D7%91%D7%99%D7%9C%D7%94%D7%A8%D7%A6%D7%99%D7%94&amp;usg=__rgENDBA19uJCMABxMnmf6-sIsaA=&amp;h=282&amp;w=370&amp;sz=24&amp;hl=en&amp;start=12&amp;itbs=1&amp;tbnid=gsQYjKU-nR-jaM:&amp;tbnh=93&amp;tbnw=122&amp;prev=/images?q=%D7%A2%D7%9C%D7%A7%D7%AA&amp;hl=en&amp;gbv=2&amp;tbs=isch:1" TargetMode="External"/><Relationship Id="rId3" Type="http://schemas.openxmlformats.org/officeDocument/2006/relationships/image" Target="../media/image1.jpeg"/><Relationship Id="rId21" Type="http://schemas.openxmlformats.org/officeDocument/2006/relationships/image" Target="../media/image10.jpeg"/><Relationship Id="rId7" Type="http://schemas.openxmlformats.org/officeDocument/2006/relationships/image" Target="../media/image3.jpeg"/><Relationship Id="rId12" Type="http://schemas.openxmlformats.org/officeDocument/2006/relationships/hyperlink" Target="http://images.google.co.il/imgres?imgurl=http://lh6.ggpht.com/_rWksMjEBTQk/SltjQmIYngI/AAAAAAAAREE/RssefjSL2mo/s800/abb-cos2812.jpg&amp;imgrefurl=http://luirig.altervista.org/schedeit/fo/orobanche_gracilis.htm&amp;usg=__MFbPycsDKvEyiA_Vwgg0djIFvP0=&amp;h=550&amp;w=458&amp;sz=55&amp;hl=en&amp;start=28&amp;um=1&amp;itbs=1&amp;tbnid=00Eu6g7RJArWcM:&amp;tbnh=133&amp;tbnw=111&amp;prev=/images?q=Orobanche+and+Phelipanche&amp;ndsp=18&amp;hl=en&amp;rlz=1T4GGLL_en___IL342&amp;sa=N&amp;start=18&amp;um=1" TargetMode="External"/><Relationship Id="rId17" Type="http://schemas.openxmlformats.org/officeDocument/2006/relationships/image" Target="../media/image8.jpeg"/><Relationship Id="rId2" Type="http://schemas.openxmlformats.org/officeDocument/2006/relationships/hyperlink" Target="http://images.google.co.il/imgres?imgurl=http://www.naturephoto-cz.eu/pic/bilek/phelipanche-purpurea-subsp.-purpurea--xxx1058.jpg&amp;imgrefurl=http://www.naturephoto-cz.eu/phelipanche-purpurea-subsp.-purpurea--picture-12175.html&amp;usg=__SoS2JXnnOddDkWvLJNuVOCyHksk=&amp;h=570&amp;w=379&amp;sz=123&amp;hl=en&amp;start=4&amp;um=1&amp;itbs=1&amp;tbnid=2K8VqbOWzOazdM:&amp;tbnh=134&amp;tbnw=89&amp;prev=/images?q=Orobanche+and+Phelipanche&amp;hl=en&amp;rlz=1T4GGLL_en___IL342&amp;sa=N&amp;um=1" TargetMode="External"/><Relationship Id="rId16" Type="http://schemas.openxmlformats.org/officeDocument/2006/relationships/hyperlink" Target="http://images.google.co.il/imgres?imgurl=http://www.biomedcentral.com/content/supplementary/1471-2164-10-294-s2.jpeg&amp;imgrefurl=http://www.biomedcentral.com/1471-2164/10/294&amp;usg=__7WzAjsnZ1l_urhR0-hOuHDpiqNQ=&amp;h=828&amp;w=655&amp;sz=120&amp;hl=en&amp;start=18&amp;um=1&amp;itbs=1&amp;tbnid=vXoB_P8-2AOauM:&amp;tbnh=144&amp;tbnw=114&amp;prev=/images?q=Orobanche+and+Phelipanche&amp;ndsp=18&amp;hl=en&amp;rlz=1T4GGLL_en___IL342&amp;sa=N&amp;um=1" TargetMode="External"/><Relationship Id="rId20" Type="http://schemas.openxmlformats.org/officeDocument/2006/relationships/hyperlink" Target="http://www.google.com/imgres?imgurl=http://flora.huji.ac.il/static/5/39/0034395.U2TTTNOH8FPMAY82.010.jpg&amp;imgrefurl=http://flora.huji.ac.il/browse.asp?action=thread&amp;t=1557&amp;usg=__uQLxoshcqE5Q0TXVy0KAMFMsyQs=&amp;h=413&amp;w=550&amp;sz=51&amp;hl=en&amp;start=10&amp;itbs=1&amp;tbnid=44qeqBw0QwkjHM:&amp;tbnh=100&amp;tbnw=133&amp;prev=/images?q=%D7%A2%D7%9C%D7%A7%D7%AA&amp;hl=en&amp;gbv=2&amp;tbs=isch:1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images.google.co.il/imgres?imgurl=http://www.naturephoto-cz.eu/pic/bilek/phelipanche-arenaria-xxx1063.jpg&amp;imgrefurl=http://www.naturephoto-cz.eu/phelipanche-arenaria-picture-12169.html&amp;usg=__NDaLEDBo6eUMBcSos-7jUzWuFZA=&amp;h=570&amp;w=379&amp;sz=148&amp;hl=en&amp;start=6&amp;um=1&amp;itbs=1&amp;tbnid=Dhx607mQDczBkM:&amp;tbnh=134&amp;tbnw=89&amp;prev=/images?q=Orobanche+and+Phelipanche&amp;hl=en&amp;rlz=1T4GGLL_en___IL342&amp;sa=N&amp;um=1" TargetMode="External"/><Relationship Id="rId11" Type="http://schemas.openxmlformats.org/officeDocument/2006/relationships/image" Target="../media/image5.jpeg"/><Relationship Id="rId5" Type="http://schemas.openxmlformats.org/officeDocument/2006/relationships/image" Target="../media/image2.jpeg"/><Relationship Id="rId15" Type="http://schemas.openxmlformats.org/officeDocument/2006/relationships/image" Target="../media/image7.jpeg"/><Relationship Id="rId10" Type="http://schemas.openxmlformats.org/officeDocument/2006/relationships/hyperlink" Target="http://images.google.co.il/imgres?imgurl=http://www.farmalierganes.com/Flora/Angiospermae/Orobanchaceae/Orobanche/Orobanche_Grex_Minores/Orobanche_minor/Orobanche_minor_Sm_Engl_Bot_6_t_422_1796-1797.jpg&amp;imgrefurl=http://www.farmalierganes.com/Flora/Angiospermae/Orobanchaceae/Orobanche/Orobanche_Grex_Minores/Orobanche_minor/Orobanche_minor.htm&amp;usg=__jWHeKjqdJZwxwLuNK_HsvFrbF-k=&amp;h=709&amp;w=514&amp;sz=546&amp;hl=en&amp;start=21&amp;um=1&amp;itbs=1&amp;tbnid=bUdo35ohJui4UM:&amp;tbnh=140&amp;tbnw=101&amp;prev=/images?q=Orobanche+and+Phelipanche&amp;ndsp=18&amp;hl=en&amp;rlz=1T4GGLL_en___IL342&amp;sa=N&amp;start=18&amp;um=1" TargetMode="External"/><Relationship Id="rId19" Type="http://schemas.openxmlformats.org/officeDocument/2006/relationships/image" Target="../media/image9.jpeg"/><Relationship Id="rId4" Type="http://schemas.openxmlformats.org/officeDocument/2006/relationships/hyperlink" Target="http://images.google.co.il/imgres?imgurl=http://www.farmalierganes.com/Flora/Angiospermae/Orobanchaceae/Phelipanche/Phelipanche_purpurea/Phelipanche_purpurea_subsp_millefolii/Orobanche_coerulea_var_millefolii_Rchb_Ic_Bot_Pl_Crit_t_784_f_1056-1057_1830.jpg&amp;imgrefurl=http://www.farmalierganes.com/Otrospdf/publica/Orobanchaceae%20Index.htm&amp;usg=__4vugmfWlJWo149K1e-Wv1DD52J4=&amp;h=712&amp;w=491&amp;sz=378&amp;hl=en&amp;start=3&amp;um=1&amp;itbs=1&amp;tbnid=sCLysMlttlw8oM:&amp;tbnh=140&amp;tbnw=97&amp;prev=/images?q=Orobanche+and+Phelipanche&amp;hl=en&amp;rlz=1T4GGLL_en___IL342&amp;sa=N&amp;um=1" TargetMode="External"/><Relationship Id="rId9" Type="http://schemas.openxmlformats.org/officeDocument/2006/relationships/image" Target="../media/image4.jpeg"/><Relationship Id="rId14" Type="http://schemas.openxmlformats.org/officeDocument/2006/relationships/hyperlink" Target="http://images.google.co.il/imgres?imgurl=http://www.biomedcentral.com/content/supplementary/1471-2164-10-294-s1.jpeg&amp;imgrefurl=http://www.biomedcentral.com/1471-2164/10/294&amp;usg=__hvGVDL_ytzr3bzBMM27DlWQlMjs=&amp;h=399&amp;w=236&amp;sz=61&amp;hl=en&amp;start=11&amp;um=1&amp;itbs=1&amp;tbnid=YsajU0iSWvHS9M:&amp;tbnh=124&amp;tbnw=73&amp;prev=/images?q=Orobanche+and+Phelipanche&amp;ndsp=18&amp;hl=en&amp;rlz=1T4GGLL_en___IL342&amp;sa=N&amp;um=1" TargetMode="Externa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hyperlink" Target="http://images.google.co.il/imgres?imgurl=http://flora.nhm-wien.ac.at/Bilder-P-Z/Phelipanche-ramosa-1.jpg&amp;imgrefurl=http://www.uniprot.org/taxonomy/46066&amp;usg=__N2Rb_tsd4zzOpUmb8wagHohh1lc=&amp;h=781&amp;w=800&amp;sz=80&amp;hl=en&amp;start=7&amp;um=1&amp;itbs=1&amp;tbnid=Sj97_8Yq0qgkQM:&amp;tbnh=140&amp;tbnw=143&amp;prev=/images?q=Orobanche+and+Phelipanche&amp;hl=en&amp;rlz=1T4GGLL_en___IL342&amp;sa=N&amp;um=1" TargetMode="External"/><Relationship Id="rId13" Type="http://schemas.openxmlformats.org/officeDocument/2006/relationships/image" Target="../media/image6.jpeg"/><Relationship Id="rId18" Type="http://schemas.openxmlformats.org/officeDocument/2006/relationships/hyperlink" Target="http://www.google.com/imgres?imgurl=http://upload.wikimedia.org/wikipedia/he/thumb/d/d2/%D7%9E%D7%97%D7%96%D7%95%D7%A8_%D7%97%D7%99%D7%99%D7%9D_%D7%A9%D7%9C_%D7%91%D7%99%D7%9C%D7%94%D7%A8%D7%A6%D7%99%D7%94.jpg/370px-%D7%9E%D7%97%D7%96%D7%95%D7%A8_%D7%97%D7%99%D7%99%D7%9D_%D7%A9%D7%9C_%D7%91%D7%99%D7%9C%D7%94%D7%A8%D7%A6%D7%99%D7%94.jpg&amp;imgrefurl=http://he.wikipedia.org/wiki/%D7%91%D7%99%D7%9C%D7%94%D7%A8%D7%A6%D7%99%D7%94&amp;usg=__rgENDBA19uJCMABxMnmf6-sIsaA=&amp;h=282&amp;w=370&amp;sz=24&amp;hl=en&amp;start=12&amp;itbs=1&amp;tbnid=gsQYjKU-nR-jaM:&amp;tbnh=93&amp;tbnw=122&amp;prev=/images?q=%D7%A2%D7%9C%D7%A7%D7%AA&amp;hl=en&amp;gbv=2&amp;tbs=isch:1" TargetMode="External"/><Relationship Id="rId3" Type="http://schemas.openxmlformats.org/officeDocument/2006/relationships/image" Target="../media/image1.jpeg"/><Relationship Id="rId21" Type="http://schemas.openxmlformats.org/officeDocument/2006/relationships/image" Target="../media/image10.jpeg"/><Relationship Id="rId7" Type="http://schemas.openxmlformats.org/officeDocument/2006/relationships/image" Target="../media/image3.jpeg"/><Relationship Id="rId12" Type="http://schemas.openxmlformats.org/officeDocument/2006/relationships/hyperlink" Target="http://images.google.co.il/imgres?imgurl=http://lh6.ggpht.com/_rWksMjEBTQk/SltjQmIYngI/AAAAAAAAREE/RssefjSL2mo/s800/abb-cos2812.jpg&amp;imgrefurl=http://luirig.altervista.org/schedeit/fo/orobanche_gracilis.htm&amp;usg=__MFbPycsDKvEyiA_Vwgg0djIFvP0=&amp;h=550&amp;w=458&amp;sz=55&amp;hl=en&amp;start=28&amp;um=1&amp;itbs=1&amp;tbnid=00Eu6g7RJArWcM:&amp;tbnh=133&amp;tbnw=111&amp;prev=/images?q=Orobanche+and+Phelipanche&amp;ndsp=18&amp;hl=en&amp;rlz=1T4GGLL_en___IL342&amp;sa=N&amp;start=18&amp;um=1" TargetMode="External"/><Relationship Id="rId17" Type="http://schemas.openxmlformats.org/officeDocument/2006/relationships/image" Target="../media/image8.jpeg"/><Relationship Id="rId2" Type="http://schemas.openxmlformats.org/officeDocument/2006/relationships/hyperlink" Target="http://images.google.co.il/imgres?imgurl=http://www.naturephoto-cz.eu/pic/bilek/phelipanche-purpurea-subsp.-purpurea--xxx1058.jpg&amp;imgrefurl=http://www.naturephoto-cz.eu/phelipanche-purpurea-subsp.-purpurea--picture-12175.html&amp;usg=__SoS2JXnnOddDkWvLJNuVOCyHksk=&amp;h=570&amp;w=379&amp;sz=123&amp;hl=en&amp;start=4&amp;um=1&amp;itbs=1&amp;tbnid=2K8VqbOWzOazdM:&amp;tbnh=134&amp;tbnw=89&amp;prev=/images?q=Orobanche+and+Phelipanche&amp;hl=en&amp;rlz=1T4GGLL_en___IL342&amp;sa=N&amp;um=1" TargetMode="External"/><Relationship Id="rId16" Type="http://schemas.openxmlformats.org/officeDocument/2006/relationships/hyperlink" Target="http://images.google.co.il/imgres?imgurl=http://www.biomedcentral.com/content/supplementary/1471-2164-10-294-s2.jpeg&amp;imgrefurl=http://www.biomedcentral.com/1471-2164/10/294&amp;usg=__7WzAjsnZ1l_urhR0-hOuHDpiqNQ=&amp;h=828&amp;w=655&amp;sz=120&amp;hl=en&amp;start=18&amp;um=1&amp;itbs=1&amp;tbnid=vXoB_P8-2AOauM:&amp;tbnh=144&amp;tbnw=114&amp;prev=/images?q=Orobanche+and+Phelipanche&amp;ndsp=18&amp;hl=en&amp;rlz=1T4GGLL_en___IL342&amp;sa=N&amp;um=1" TargetMode="External"/><Relationship Id="rId20" Type="http://schemas.openxmlformats.org/officeDocument/2006/relationships/hyperlink" Target="http://www.google.com/imgres?imgurl=http://flora.huji.ac.il/static/5/39/0034395.U2TTTNOH8FPMAY82.010.jpg&amp;imgrefurl=http://flora.huji.ac.il/browse.asp?action=thread&amp;t=1557&amp;usg=__uQLxoshcqE5Q0TXVy0KAMFMsyQs=&amp;h=413&amp;w=550&amp;sz=51&amp;hl=en&amp;start=10&amp;itbs=1&amp;tbnid=44qeqBw0QwkjHM:&amp;tbnh=100&amp;tbnw=133&amp;prev=/images?q=%D7%A2%D7%9C%D7%A7%D7%AA&amp;hl=en&amp;gbv=2&amp;tbs=isch:1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images.google.co.il/imgres?imgurl=http://www.naturephoto-cz.eu/pic/bilek/phelipanche-arenaria-xxx1063.jpg&amp;imgrefurl=http://www.naturephoto-cz.eu/phelipanche-arenaria-picture-12169.html&amp;usg=__NDaLEDBo6eUMBcSos-7jUzWuFZA=&amp;h=570&amp;w=379&amp;sz=148&amp;hl=en&amp;start=6&amp;um=1&amp;itbs=1&amp;tbnid=Dhx607mQDczBkM:&amp;tbnh=134&amp;tbnw=89&amp;prev=/images?q=Orobanche+and+Phelipanche&amp;hl=en&amp;rlz=1T4GGLL_en___IL342&amp;sa=N&amp;um=1" TargetMode="External"/><Relationship Id="rId11" Type="http://schemas.openxmlformats.org/officeDocument/2006/relationships/image" Target="../media/image5.jpeg"/><Relationship Id="rId5" Type="http://schemas.openxmlformats.org/officeDocument/2006/relationships/image" Target="../media/image2.jpeg"/><Relationship Id="rId15" Type="http://schemas.openxmlformats.org/officeDocument/2006/relationships/image" Target="../media/image7.jpeg"/><Relationship Id="rId10" Type="http://schemas.openxmlformats.org/officeDocument/2006/relationships/hyperlink" Target="http://images.google.co.il/imgres?imgurl=http://www.farmalierganes.com/Flora/Angiospermae/Orobanchaceae/Orobanche/Orobanche_Grex_Minores/Orobanche_minor/Orobanche_minor_Sm_Engl_Bot_6_t_422_1796-1797.jpg&amp;imgrefurl=http://www.farmalierganes.com/Flora/Angiospermae/Orobanchaceae/Orobanche/Orobanche_Grex_Minores/Orobanche_minor/Orobanche_minor.htm&amp;usg=__jWHeKjqdJZwxwLuNK_HsvFrbF-k=&amp;h=709&amp;w=514&amp;sz=546&amp;hl=en&amp;start=21&amp;um=1&amp;itbs=1&amp;tbnid=bUdo35ohJui4UM:&amp;tbnh=140&amp;tbnw=101&amp;prev=/images?q=Orobanche+and+Phelipanche&amp;ndsp=18&amp;hl=en&amp;rlz=1T4GGLL_en___IL342&amp;sa=N&amp;start=18&amp;um=1" TargetMode="External"/><Relationship Id="rId19" Type="http://schemas.openxmlformats.org/officeDocument/2006/relationships/image" Target="../media/image9.jpeg"/><Relationship Id="rId4" Type="http://schemas.openxmlformats.org/officeDocument/2006/relationships/hyperlink" Target="http://images.google.co.il/imgres?imgurl=http://www.farmalierganes.com/Flora/Angiospermae/Orobanchaceae/Phelipanche/Phelipanche_purpurea/Phelipanche_purpurea_subsp_millefolii/Orobanche_coerulea_var_millefolii_Rchb_Ic_Bot_Pl_Crit_t_784_f_1056-1057_1830.jpg&amp;imgrefurl=http://www.farmalierganes.com/Otrospdf/publica/Orobanchaceae%20Index.htm&amp;usg=__4vugmfWlJWo149K1e-Wv1DD52J4=&amp;h=712&amp;w=491&amp;sz=378&amp;hl=en&amp;start=3&amp;um=1&amp;itbs=1&amp;tbnid=sCLysMlttlw8oM:&amp;tbnh=140&amp;tbnw=97&amp;prev=/images?q=Orobanche+and+Phelipanche&amp;hl=en&amp;rlz=1T4GGLL_en___IL342&amp;sa=N&amp;um=1" TargetMode="External"/><Relationship Id="rId9" Type="http://schemas.openxmlformats.org/officeDocument/2006/relationships/image" Target="../media/image4.jpeg"/><Relationship Id="rId14" Type="http://schemas.openxmlformats.org/officeDocument/2006/relationships/hyperlink" Target="http://images.google.co.il/imgres?imgurl=http://www.biomedcentral.com/content/supplementary/1471-2164-10-294-s1.jpeg&amp;imgrefurl=http://www.biomedcentral.com/1471-2164/10/294&amp;usg=__hvGVDL_ytzr3bzBMM27DlWQlMjs=&amp;h=399&amp;w=236&amp;sz=61&amp;hl=en&amp;start=11&amp;um=1&amp;itbs=1&amp;tbnid=YsajU0iSWvHS9M:&amp;tbnh=124&amp;tbnw=73&amp;prev=/images?q=Orobanche+and+Phelipanche&amp;ndsp=18&amp;hl=en&amp;rlz=1T4GGLL_en___IL342&amp;sa=N&amp;um=1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0C40-E6A7-4194-A77E-1621D16DF4FD}" type="datetimeFigureOut">
              <a:rPr lang="en-US" smtClean="0"/>
              <a:pPr/>
              <a:t>8/5/2010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653C-3442-438D-8981-C7098C0C6B4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http://t1.gstatic.com/images?q=tbn:2K8VqbOWzOazdM:http://www.naturephoto-cz.eu/pic/bilek/phelipanche-purpurea-subsp.-purpurea--xxx1058.jp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884687" cy="1332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4" descr="http://t2.gstatic.com/images?q=tbn:sCLysMlttlw8oM:http://www.farmalierganes.com/Flora/Angiospermae/Orobanchaceae/Phelipanche/Phelipanche_purpurea/Phelipanche_purpurea_subsp_millefolii/Orobanche_coerulea_var_millefolii_Rchb_Ic_Bot_Pl_Crit_t_784_f_1056-1057_1830.jpg">
            <a:hlinkClick r:id="rId4"/>
          </p:cNvPr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799812" y="0"/>
            <a:ext cx="923925" cy="13335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6" descr="http://t2.gstatic.com/images?q=tbn:Dhx607mQDczBkM:http://www.naturephoto-cz.eu/pic/bilek/phelipanche-arenaria-xxx1063.jpg">
            <a:hlinkClick r:id="rId6"/>
          </p:cNvPr>
          <p:cNvPicPr>
            <a:picLocks noChangeAspect="1"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1615611" y="0"/>
            <a:ext cx="884687" cy="1332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8" descr="http://t3.gstatic.com/images?q=tbn:Sj97_8Yq0qgkQM:http://flora.nhm-wien.ac.at/Bilder-P-Z/Phelipanche-ramosa-1.jpg">
            <a:hlinkClick r:id="rId8"/>
          </p:cNvPr>
          <p:cNvPicPr>
            <a:picLocks noChangeAspect="1" noChangeArrowheads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7781925" y="0"/>
            <a:ext cx="1360542" cy="1332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http://t0.gstatic.com/images?q=tbn:bUdo35ohJui4UM:http://www.farmalierganes.com/Flora/Angiospermae/Orobanchaceae/Orobanche/Orobanche_Grex_Minores/Orobanche_minor/Orobanche_minor_Sm_Engl_Bot_6_t_422_1796-1797.jpg">
            <a:hlinkClick r:id="rId10"/>
          </p:cNvPr>
          <p:cNvPicPr>
            <a:picLocks noChangeAspect="1" noChangeArrowheads="1"/>
          </p:cNvPicPr>
          <p:nvPr userDrawn="1"/>
        </p:nvPicPr>
        <p:blipFill>
          <a:blip r:embed="rId11"/>
          <a:srcRect/>
          <a:stretch>
            <a:fillRect/>
          </a:stretch>
        </p:blipFill>
        <p:spPr bwMode="auto">
          <a:xfrm>
            <a:off x="4139952" y="0"/>
            <a:ext cx="960942" cy="1332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2" descr="http://t2.gstatic.com/images?q=tbn:00Eu6g7RJArWcM:http://lh6.ggpht.com/_rWksMjEBTQk/SltjQmIYngI/AAAAAAAAREE/RssefjSL2mo/s800/abb-cos2812.jpg">
            <a:hlinkClick r:id="rId12"/>
          </p:cNvPr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2384854" y="0"/>
            <a:ext cx="1111668" cy="1332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8" descr="http://t3.gstatic.com/images?q=tbn:YsajU0iSWvHS9M:http://www.biomedcentral.com/content/supplementary/1471-2164-10-294-s1.jpeg">
            <a:hlinkClick r:id="rId14"/>
          </p:cNvPr>
          <p:cNvPicPr>
            <a:picLocks noChangeAspect="1" noChangeArrowheads="1"/>
          </p:cNvPicPr>
          <p:nvPr userDrawn="1"/>
        </p:nvPicPr>
        <p:blipFill>
          <a:blip r:embed="rId15"/>
          <a:srcRect/>
          <a:stretch>
            <a:fillRect/>
          </a:stretch>
        </p:blipFill>
        <p:spPr bwMode="auto">
          <a:xfrm>
            <a:off x="3419872" y="0"/>
            <a:ext cx="784161" cy="1332000"/>
          </a:xfrm>
          <a:prstGeom prst="rect">
            <a:avLst/>
          </a:prstGeom>
          <a:ln>
            <a:noFill/>
          </a:ln>
          <a:effectLst>
            <a:softEdge rad="63500"/>
          </a:effectLst>
        </p:spPr>
      </p:pic>
      <p:pic>
        <p:nvPicPr>
          <p:cNvPr id="15" name="Picture 20" descr="http://t1.gstatic.com/images?q=tbn:vXoB_P8-2AOauM:http://www.biomedcentral.com/content/supplementary/1471-2164-10-294-s2.jpeg">
            <a:hlinkClick r:id="rId16"/>
          </p:cNvPr>
          <p:cNvPicPr preferRelativeResize="0">
            <a:picLocks noChangeArrowheads="1"/>
          </p:cNvPicPr>
          <p:nvPr userDrawn="1"/>
        </p:nvPicPr>
        <p:blipFill>
          <a:blip r:embed="rId17"/>
          <a:srcRect/>
          <a:stretch>
            <a:fillRect/>
          </a:stretch>
        </p:blipFill>
        <p:spPr bwMode="auto">
          <a:xfrm>
            <a:off x="6911688" y="0"/>
            <a:ext cx="972000" cy="1332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5058" name="Picture 2" descr="http://t0.gstatic.com/images?q=tbn:gsQYjKU-nR-jaM:http://upload.wikimedia.org/wikipedia/he/thumb/d/d2/%D7%9E%D7%97%D7%96%D7%95%D7%A8_%D7%97%D7%99%D7%99%D7%9D_%D7%A9%D7%9C_%D7%91%D7%99%D7%9C%D7%94%D7%A8%D7%A6%D7%99%D7%94.jpg/370px-%D7%9E%D7%97%D7%96%D7%95%D7%A8_%D7%97%D7%99%D7%99%D7%9D_%D7%A9%D7%9C_%D7%91%D7%99%D7%9C%D7%94%D7%A8%D7%A6%D7%99%D7%94.jpg">
            <a:hlinkClick r:id="rId18"/>
          </p:cNvPr>
          <p:cNvPicPr preferRelativeResize="0">
            <a:picLocks noChangeArrowheads="1"/>
          </p:cNvPicPr>
          <p:nvPr userDrawn="1"/>
        </p:nvPicPr>
        <p:blipFill>
          <a:blip r:embed="rId19"/>
          <a:srcRect/>
          <a:stretch>
            <a:fillRect/>
          </a:stretch>
        </p:blipFill>
        <p:spPr bwMode="auto">
          <a:xfrm>
            <a:off x="4977760" y="0"/>
            <a:ext cx="1188000" cy="1332000"/>
          </a:xfrm>
          <a:prstGeom prst="rect">
            <a:avLst/>
          </a:prstGeom>
          <a:noFill/>
          <a:effectLst>
            <a:softEdge rad="127000"/>
          </a:effectLst>
        </p:spPr>
      </p:pic>
      <p:pic>
        <p:nvPicPr>
          <p:cNvPr id="45060" name="Picture 4" descr="http://t2.gstatic.com/images?q=tbn:44qeqBw0QwkjHM:http://flora.huji.ac.il/static/5/39/0034395.U2TTTNOH8FPMAY82.010.jpg">
            <a:hlinkClick r:id="rId20"/>
          </p:cNvPr>
          <p:cNvPicPr preferRelativeResize="0">
            <a:picLocks noChangeArrowheads="1"/>
          </p:cNvPicPr>
          <p:nvPr userDrawn="1"/>
        </p:nvPicPr>
        <p:blipFill>
          <a:blip r:embed="rId21"/>
          <a:srcRect/>
          <a:stretch>
            <a:fillRect/>
          </a:stretch>
        </p:blipFill>
        <p:spPr bwMode="auto">
          <a:xfrm>
            <a:off x="6038448" y="0"/>
            <a:ext cx="972000" cy="1332000"/>
          </a:xfrm>
          <a:prstGeom prst="rect">
            <a:avLst/>
          </a:prstGeom>
          <a:noFill/>
          <a:effectLst>
            <a:softEdge rad="127000"/>
          </a:effec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0C40-E6A7-4194-A77E-1621D16DF4FD}" type="datetimeFigureOut">
              <a:rPr lang="en-US" smtClean="0"/>
              <a:pPr/>
              <a:t>8/5/2010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653C-3442-438D-8981-C7098C0C6B4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0" y="1"/>
            <a:ext cx="9142467" cy="764704"/>
            <a:chOff x="0" y="0"/>
            <a:chExt cx="9142467" cy="1333501"/>
          </a:xfrm>
        </p:grpSpPr>
        <p:pic>
          <p:nvPicPr>
            <p:cNvPr id="18" name="Picture 2" descr="http://t1.gstatic.com/images?q=tbn:2K8VqbOWzOazdM:http://www.naturephoto-cz.eu/pic/bilek/phelipanche-purpurea-subsp.-purpurea--xxx1058.jpg">
              <a:hlinkClick r:id="rId2"/>
            </p:cNvPr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884687" cy="13320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19" name="Picture 4" descr="http://t2.gstatic.com/images?q=tbn:sCLysMlttlw8oM:http://www.farmalierganes.com/Flora/Angiospermae/Orobanchaceae/Phelipanche/Phelipanche_purpurea/Phelipanche_purpurea_subsp_millefolii/Orobanche_coerulea_var_millefolii_Rchb_Ic_Bot_Pl_Crit_t_784_f_1056-1057_1830.jpg">
              <a:hlinkClick r:id="rId4"/>
            </p:cNvPr>
            <p:cNvPicPr>
              <a:picLocks noChangeAspect="1" noChangeArrowheads="1"/>
            </p:cNvPicPr>
            <p:nvPr userDrawn="1"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99812" y="0"/>
              <a:ext cx="923925" cy="133350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20" name="Picture 6" descr="http://t2.gstatic.com/images?q=tbn:Dhx607mQDczBkM:http://www.naturephoto-cz.eu/pic/bilek/phelipanche-arenaria-xxx1063.jpg">
              <a:hlinkClick r:id="rId6"/>
            </p:cNvPr>
            <p:cNvPicPr>
              <a:picLocks noChangeAspect="1" noChangeArrowheads="1"/>
            </p:cNvPicPr>
            <p:nvPr userDrawn="1"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1615611" y="0"/>
              <a:ext cx="884687" cy="13320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21" name="Picture 8" descr="http://t3.gstatic.com/images?q=tbn:Sj97_8Yq0qgkQM:http://flora.nhm-wien.ac.at/Bilder-P-Z/Phelipanche-ramosa-1.jpg">
              <a:hlinkClick r:id="rId8"/>
            </p:cNvPr>
            <p:cNvPicPr>
              <a:picLocks noChangeAspect="1" noChangeArrowheads="1"/>
            </p:cNvPicPr>
            <p:nvPr userDrawn="1"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7781925" y="0"/>
              <a:ext cx="1360542" cy="13320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22" name="Picture 21" descr="http://t0.gstatic.com/images?q=tbn:bUdo35ohJui4UM:http://www.farmalierganes.com/Flora/Angiospermae/Orobanchaceae/Orobanche/Orobanche_Grex_Minores/Orobanche_minor/Orobanche_minor_Sm_Engl_Bot_6_t_422_1796-1797.jpg">
              <a:hlinkClick r:id="rId10"/>
            </p:cNvPr>
            <p:cNvPicPr>
              <a:picLocks noChangeAspect="1" noChangeArrowheads="1"/>
            </p:cNvPicPr>
            <p:nvPr userDrawn="1"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4139952" y="0"/>
              <a:ext cx="960942" cy="13320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23" name="Picture 12" descr="http://t2.gstatic.com/images?q=tbn:00Eu6g7RJArWcM:http://lh6.ggpht.com/_rWksMjEBTQk/SltjQmIYngI/AAAAAAAAREE/RssefjSL2mo/s800/abb-cos2812.jpg">
              <a:hlinkClick r:id="rId12"/>
            </p:cNvPr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84854" y="0"/>
              <a:ext cx="1111668" cy="13320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24" name="Picture 18" descr="http://t3.gstatic.com/images?q=tbn:YsajU0iSWvHS9M:http://www.biomedcentral.com/content/supplementary/1471-2164-10-294-s1.jpeg">
              <a:hlinkClick r:id="rId14"/>
            </p:cNvPr>
            <p:cNvPicPr>
              <a:picLocks noChangeAspect="1" noChangeArrowheads="1"/>
            </p:cNvPicPr>
            <p:nvPr userDrawn="1"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3419872" y="0"/>
              <a:ext cx="784161" cy="1332000"/>
            </a:xfrm>
            <a:prstGeom prst="rect">
              <a:avLst/>
            </a:prstGeom>
            <a:ln>
              <a:noFill/>
            </a:ln>
            <a:effectLst>
              <a:softEdge rad="63500"/>
            </a:effectLst>
          </p:spPr>
        </p:pic>
        <p:pic>
          <p:nvPicPr>
            <p:cNvPr id="25" name="Picture 20" descr="http://t1.gstatic.com/images?q=tbn:vXoB_P8-2AOauM:http://www.biomedcentral.com/content/supplementary/1471-2164-10-294-s2.jpeg">
              <a:hlinkClick r:id="rId16"/>
            </p:cNvPr>
            <p:cNvPicPr preferRelativeResize="0">
              <a:picLocks noChangeArrowheads="1"/>
            </p:cNvPicPr>
            <p:nvPr userDrawn="1"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6911688" y="0"/>
              <a:ext cx="972000" cy="13320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26" name="Picture 2" descr="http://t0.gstatic.com/images?q=tbn:gsQYjKU-nR-jaM:http://upload.wikimedia.org/wikipedia/he/thumb/d/d2/%D7%9E%D7%97%D7%96%D7%95%D7%A8_%D7%97%D7%99%D7%99%D7%9D_%D7%A9%D7%9C_%D7%91%D7%99%D7%9C%D7%94%D7%A8%D7%A6%D7%99%D7%94.jpg/370px-%D7%9E%D7%97%D7%96%D7%95%D7%A8_%D7%97%D7%99%D7%99%D7%9D_%D7%A9%D7%9C_%D7%91%D7%99%D7%9C%D7%94%D7%A8%D7%A6%D7%99%D7%94.jpg">
              <a:hlinkClick r:id="rId18"/>
            </p:cNvPr>
            <p:cNvPicPr preferRelativeResize="0">
              <a:picLocks noChangeArrowheads="1"/>
            </p:cNvPicPr>
            <p:nvPr userDrawn="1"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4977760" y="0"/>
              <a:ext cx="1188000" cy="1332000"/>
            </a:xfrm>
            <a:prstGeom prst="rect">
              <a:avLst/>
            </a:prstGeom>
            <a:noFill/>
            <a:effectLst>
              <a:softEdge rad="127000"/>
            </a:effectLst>
          </p:spPr>
        </p:pic>
        <p:pic>
          <p:nvPicPr>
            <p:cNvPr id="27" name="Picture 4" descr="http://t2.gstatic.com/images?q=tbn:44qeqBw0QwkjHM:http://flora.huji.ac.il/static/5/39/0034395.U2TTTNOH8FPMAY82.010.jpg">
              <a:hlinkClick r:id="rId20"/>
            </p:cNvPr>
            <p:cNvPicPr preferRelativeResize="0">
              <a:picLocks noChangeArrowheads="1"/>
            </p:cNvPicPr>
            <p:nvPr userDrawn="1"/>
          </p:nvPicPr>
          <p:blipFill>
            <a:blip r:embed="rId21"/>
            <a:srcRect/>
            <a:stretch>
              <a:fillRect/>
            </a:stretch>
          </p:blipFill>
          <p:spPr bwMode="auto">
            <a:xfrm>
              <a:off x="6038448" y="0"/>
              <a:ext cx="972000" cy="1332000"/>
            </a:xfrm>
            <a:prstGeom prst="rect">
              <a:avLst/>
            </a:prstGeom>
            <a:noFill/>
            <a:effectLst>
              <a:softEdge rad="127000"/>
            </a:effectLst>
          </p:spPr>
        </p:pic>
      </p:grp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0C40-E6A7-4194-A77E-1621D16DF4FD}" type="datetimeFigureOut">
              <a:rPr lang="en-US" smtClean="0"/>
              <a:pPr/>
              <a:t>8/5/2010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653C-3442-438D-8981-C7098C0C6B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0C40-E6A7-4194-A77E-1621D16DF4FD}" type="datetimeFigureOut">
              <a:rPr lang="en-US" smtClean="0"/>
              <a:pPr/>
              <a:t>8/5/2010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653C-3442-438D-8981-C7098C0C6B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0C40-E6A7-4194-A77E-1621D16DF4FD}" type="datetimeFigureOut">
              <a:rPr lang="en-US" smtClean="0"/>
              <a:pPr/>
              <a:t>8/5/2010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653C-3442-438D-8981-C7098C0C6B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0C40-E6A7-4194-A77E-1621D16DF4FD}" type="datetimeFigureOut">
              <a:rPr lang="en-US" smtClean="0"/>
              <a:pPr/>
              <a:t>8/5/2010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653C-3442-438D-8981-C7098C0C6B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0C40-E6A7-4194-A77E-1621D16DF4FD}" type="datetimeFigureOut">
              <a:rPr lang="en-US" smtClean="0"/>
              <a:pPr/>
              <a:t>8/5/2010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653C-3442-438D-8981-C7098C0C6B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0C40-E6A7-4194-A77E-1621D16DF4FD}" type="datetimeFigureOut">
              <a:rPr lang="en-US" smtClean="0"/>
              <a:pPr/>
              <a:t>8/5/2010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653C-3442-438D-8981-C7098C0C6B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0C40-E6A7-4194-A77E-1621D16DF4FD}" type="datetimeFigureOut">
              <a:rPr lang="en-US" smtClean="0"/>
              <a:pPr/>
              <a:t>8/5/2010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653C-3442-438D-8981-C7098C0C6B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0C40-E6A7-4194-A77E-1621D16DF4FD}" type="datetimeFigureOut">
              <a:rPr lang="en-US" smtClean="0"/>
              <a:pPr/>
              <a:t>8/5/2010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653C-3442-438D-8981-C7098C0C6B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A0C40-E6A7-4194-A77E-1621D16DF4FD}" type="datetimeFigureOut">
              <a:rPr lang="en-US" smtClean="0"/>
              <a:pPr/>
              <a:t>8/5/2010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653C-3442-438D-8981-C7098C0C6B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A0C40-E6A7-4194-A77E-1621D16DF4FD}" type="datetimeFigureOut">
              <a:rPr lang="en-US" smtClean="0"/>
              <a:pPr/>
              <a:t>8/5/2010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A653C-3442-438D-8981-C7098C0C6B4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pPr rtl="1"/>
            <a:r>
              <a:rPr lang="he-IL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מיפוי ואבחון:</a:t>
            </a:r>
            <a:br>
              <a:rPr lang="he-IL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he-IL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איפיון</a:t>
            </a:r>
            <a:r>
              <a:rPr lang="he-IL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הליך דיגום עלקת</a:t>
            </a:r>
            <a:endParaRPr lang="en-US" b="1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007" y="3645024"/>
            <a:ext cx="6557986" cy="1752600"/>
          </a:xfrm>
        </p:spPr>
        <p:txBody>
          <a:bodyPr/>
          <a:lstStyle/>
          <a:p>
            <a:pPr rtl="1"/>
            <a:r>
              <a:rPr lang="he-IL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יפית כהן, ויקטור </a:t>
            </a:r>
            <a:r>
              <a:rPr lang="he-IL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אלחנתי</a:t>
            </a:r>
            <a:r>
              <a:rPr lang="he-IL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איתי רועי וחנן אייזנברג</a:t>
            </a: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rtl="1"/>
            <a:endParaRPr lang="en-US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4" name="Picture 6" descr="http://www.pri.wur.nl/NR/rdonlyres/3708CA39-9D7E-43EB-8196-0CEDD5F598A0/21276/TomatoOrobanche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19872" y="4783283"/>
            <a:ext cx="2124852" cy="18140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 l="21823" t="18144" r="2039" b="7267"/>
          <a:stretch>
            <a:fillRect/>
          </a:stretch>
        </p:blipFill>
        <p:spPr bwMode="auto">
          <a:xfrm>
            <a:off x="-36512" y="0"/>
            <a:ext cx="9145016" cy="6912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4048" y="216024"/>
            <a:ext cx="3621088" cy="1916832"/>
          </a:xfrm>
          <a:solidFill>
            <a:schemeClr val="tx1">
              <a:alpha val="42000"/>
            </a:schemeClr>
          </a:solidFill>
        </p:spPr>
        <p:txBody>
          <a:bodyPr>
            <a:normAutofit fontScale="90000"/>
          </a:bodyPr>
          <a:lstStyle/>
          <a:p>
            <a:pPr rtl="1"/>
            <a:r>
              <a:rPr lang="he-IL" b="1" dirty="0" smtClean="0">
                <a:solidFill>
                  <a:schemeClr val="accent1">
                    <a:lumMod val="5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מפה כללית של החלקות שמופו עד כה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l="41007" t="19550" r="13802" b="10101"/>
          <a:stretch>
            <a:fillRect/>
          </a:stretch>
        </p:blipFill>
        <p:spPr bwMode="auto">
          <a:xfrm>
            <a:off x="3779913" y="1340768"/>
            <a:ext cx="3888432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004048" y="764704"/>
            <a:ext cx="2664296" cy="52322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2800" b="1" dirty="0" smtClean="0"/>
              <a:t>יפעת - </a:t>
            </a:r>
            <a:r>
              <a:rPr lang="he-IL" sz="2800" b="1" dirty="0" smtClean="0"/>
              <a:t>קישון 1</a:t>
            </a:r>
            <a:endParaRPr lang="he-IL" sz="2800" b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4895" y="277720"/>
            <a:ext cx="2714937" cy="181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4895" y="2554592"/>
            <a:ext cx="2714937" cy="181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44895" y="4786840"/>
            <a:ext cx="2714937" cy="181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Straight Arrow Connector 9"/>
          <p:cNvCxnSpPr/>
          <p:nvPr/>
        </p:nvCxnSpPr>
        <p:spPr>
          <a:xfrm rot="10800000">
            <a:off x="2051721" y="1772816"/>
            <a:ext cx="2664296" cy="1656184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2051721" y="3501008"/>
            <a:ext cx="2952328" cy="648072"/>
          </a:xfrm>
          <a:prstGeom prst="straightConnector1">
            <a:avLst/>
          </a:prstGeom>
          <a:ln w="5715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 flipV="1">
            <a:off x="1979713" y="5157192"/>
            <a:ext cx="4392488" cy="72008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ight Arrow Callout 20"/>
          <p:cNvSpPr/>
          <p:nvPr/>
        </p:nvSpPr>
        <p:spPr>
          <a:xfrm rot="558119">
            <a:off x="7007127" y="1833266"/>
            <a:ext cx="2041251" cy="4176464"/>
          </a:xfrm>
          <a:prstGeom prst="rightArrowCallou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sz="2800" dirty="0" smtClean="0"/>
              <a:t>עגבניות</a:t>
            </a:r>
          </a:p>
          <a:p>
            <a:pPr algn="ctr" rtl="1"/>
            <a:r>
              <a:rPr lang="he-IL" sz="2800" dirty="0" smtClean="0"/>
              <a:t>09</a:t>
            </a:r>
            <a:endParaRPr lang="he-IL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l="27162" t="19550" r="16045" b="10101"/>
          <a:stretch>
            <a:fillRect/>
          </a:stretch>
        </p:blipFill>
        <p:spPr bwMode="auto">
          <a:xfrm>
            <a:off x="2771800" y="1340768"/>
            <a:ext cx="4968552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932040" y="764704"/>
            <a:ext cx="2808312" cy="52322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he-IL" sz="2800" b="1" dirty="0" smtClean="0"/>
              <a:t>יפעת </a:t>
            </a:r>
            <a:r>
              <a:rPr lang="he-IL" sz="2800" b="1" dirty="0" err="1" smtClean="0"/>
              <a:t>– ח</a:t>
            </a:r>
            <a:r>
              <a:rPr lang="he-IL" sz="2800" b="1" dirty="0" smtClean="0"/>
              <a:t>לקה ו'</a:t>
            </a:r>
            <a:endParaRPr lang="he-IL" sz="2800" b="1" dirty="0"/>
          </a:p>
        </p:txBody>
      </p:sp>
      <p:sp>
        <p:nvSpPr>
          <p:cNvPr id="7" name="Left Arrow Callout 6"/>
          <p:cNvSpPr/>
          <p:nvPr/>
        </p:nvSpPr>
        <p:spPr>
          <a:xfrm rot="1515984">
            <a:off x="3395534" y="1010044"/>
            <a:ext cx="1979120" cy="4105593"/>
          </a:xfrm>
          <a:prstGeom prst="leftArrowCallou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sz="2800" dirty="0" smtClean="0"/>
              <a:t>עגבניות 09</a:t>
            </a:r>
            <a:endParaRPr lang="he-IL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l="27388" t="19550" r="2899" b="10101"/>
          <a:stretch>
            <a:fillRect/>
          </a:stretch>
        </p:blipFill>
        <p:spPr bwMode="auto">
          <a:xfrm>
            <a:off x="1907704" y="1340768"/>
            <a:ext cx="6048672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364088" y="764704"/>
            <a:ext cx="2633003" cy="52322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1">
            <a:spAutoFit/>
          </a:bodyPr>
          <a:lstStyle/>
          <a:p>
            <a:pPr algn="r" rtl="1"/>
            <a:r>
              <a:rPr lang="he-IL" sz="2800" b="1" dirty="0" smtClean="0"/>
              <a:t>יגור </a:t>
            </a:r>
            <a:r>
              <a:rPr lang="he-IL" sz="2800" b="1" dirty="0" err="1" smtClean="0"/>
              <a:t>– מ</a:t>
            </a:r>
            <a:r>
              <a:rPr lang="he-IL" sz="2800" b="1" dirty="0" smtClean="0"/>
              <a:t>זרח 90</a:t>
            </a:r>
            <a:endParaRPr lang="he-IL" sz="2800" b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203848" y="5373216"/>
            <a:ext cx="2170584" cy="648072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r" defTabSz="914400" rtl="1" eaLnBrk="1" fontAlgn="auto" latinLnBrk="0" hangingPunct="1"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he-IL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גונדולה?</a:t>
            </a:r>
            <a:endParaRPr kumimoji="0" lang="en-US" sz="4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342900" marR="0" lvl="0" indent="-342900" algn="r" defTabSz="914400" rtl="1" eaLnBrk="1" fontAlgn="auto" latinLnBrk="0" hangingPunct="1"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44</Words>
  <Application>Microsoft Office PowerPoint</Application>
  <PresentationFormat>On-screen Show (4:3)</PresentationFormat>
  <Paragraphs>15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מיפוי ואבחון: איפיון הליך דיגום עלקת</vt:lpstr>
      <vt:lpstr>מפה כללית של החלקות שמופו עד כה</vt:lpstr>
      <vt:lpstr>Slide 3</vt:lpstr>
      <vt:lpstr>Slide 4</vt:lpstr>
      <vt:lpstr>Slide 5</vt:lpstr>
    </vt:vector>
  </TitlesOfParts>
  <Company>ARO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מיזם - גישה אינטגרטיבית להפחתת נזקי העלקת בגידולים חקלאיים</dc:title>
  <dc:creator>aro</dc:creator>
  <cp:lastModifiedBy>Yafit Cohen</cp:lastModifiedBy>
  <cp:revision>40</cp:revision>
  <dcterms:created xsi:type="dcterms:W3CDTF">2010-02-17T13:15:27Z</dcterms:created>
  <dcterms:modified xsi:type="dcterms:W3CDTF">2010-08-05T14:36:22Z</dcterms:modified>
</cp:coreProperties>
</file>